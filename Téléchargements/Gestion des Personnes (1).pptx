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11" d="100"/>
          <a:sy n="111" d="100"/>
        </p:scale>
        <p:origin x="63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2948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29774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69152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01641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186044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52140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21390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0147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216099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4210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22301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5753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4307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9356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1480185"/>
            <a:ext cx="7924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LEPL1805 – Gestion des personnes</a:t>
            </a:r>
            <a:endParaRPr lang="en-US" sz="4500" dirty="0"/>
          </a:p>
        </p:txBody>
      </p:sp>
      <p:sp>
        <p:nvSpPr>
          <p:cNvPr id="3" name="Text 1"/>
          <p:cNvSpPr/>
          <p:nvPr/>
        </p:nvSpPr>
        <p:spPr>
          <a:xfrm>
            <a:off x="2563079" y="3004185"/>
            <a:ext cx="40177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buNone/>
            </a:pPr>
            <a:r>
              <a:rPr lang="en-US" sz="1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Médical Horizon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3286277" y="3476625"/>
            <a:ext cx="2571329" cy="186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buNone/>
            </a:pPr>
            <a:r>
              <a:rPr lang="en-US" sz="1050" dirty="0">
                <a:solidFill>
                  <a:srgbClr val="B0B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Groupe 6 – Année académique 2025‑2026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la présentation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Présentation du Centre </a:t>
            </a:r>
            <a:r>
              <a:rPr lang="en-US" sz="1350" dirty="0" err="1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Médical</a:t>
            </a: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Horizon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 d’analyse et concepts de gestion des personnes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des nouveaux collaborateurs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Requalification et évolution professionnelle des équipes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situations de crise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Apprentissages managériaux et conclusion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Centre Médical Horizon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1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Établissement de santé pluridisciplinaire organisé sur deux sites (urbain et rural) assurant des soins 24h/24 et 7j/7.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882140"/>
            <a:ext cx="7620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Statut : ASBL – mission de service public de santé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Capacité : 600 lits (500 urbain &amp; 100 rural)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Activités : soins hospitaliers, urgences, stérilisation, nettoyage, prévention des infections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Organisation : CEO, directions médicales, soins infirmiers, opérations, finances, SI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Concertation sociale : CE, CPPT, délégation syndicale (DS)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Valeurs &amp; indicateurs clés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Excellence des soins et approche centrée sur le patient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Solidarité, apprentissage collectif, respect et dialogue social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Formation continue &amp; rituels : journées de premiers secours, Arbre de Mémoire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55651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Indicateurs de performance suivis 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872740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Taux de réadmission et durée moyenne de séjour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Délai moyen de prise en charge aux urgences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Coût moyen par patient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moyen d’opérations mensuelles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Méthodologie &amp; concepts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L’analyse suit une démarche en trois étapes pour chaque concept de gestion des personnes 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1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théorique (Rousseau, Argyris, Deci &amp; Ryan, Adler &amp; Borys, Prosci, Coombs, Perrow, etc.)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au Centre Médical Horizon (cas fictif SmartHygiene)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terrain &amp; synthèse des apprentissages managériaux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948941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Trois concepts centraux : intégration des nouveaux collaborateurs, requalification &amp; évolution professionnelle, gestion des crises.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des nouveaux collaborateurs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0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L’intégration (onboarding) regroupe les pratiques qui accompagnent l’arrivée d’un nouveau collaborateur et facilitent son adaptation.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882141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Clarifier le rôle attendu et les règles formelles / informelles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Transmettre la culture organisationnelle et les valeurs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Réduire le stress lié à l’entrée dans l’organisation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Renforcer engagement, motivation, performance et cohésion d’équipe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– cadres théoriques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28117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 psychologique (Rousseau) : attentes réciproques implicites / explicites entre individu et organisation.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Théories « espousées » vs « en usage » (Argyris) : cohérence entre discours et pratiques managériales.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Théorie de l’autodétermination (Deci &amp; Ryan) : répondre aux besoins d’autonomie, compétence, appartenance.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Développement des équipes (Tuckman) : arrivée d’un nouveau peut réactiver tensions et nécessiter un pilotage fin.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– CMH &amp; terrain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0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Enjeu majeur : deux sites, travail en 3 services, forte pression opérationnelle.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Mix de formations techniques, rituels institutionnels et politique de formation continue.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Étude de terrain – Cliniques de l’Europe 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2449832"/>
            <a:ext cx="762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Séances d’accueil RH, programme structuré d’intégration et suivis mensuels.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ICANEs pour l’accompagnement spécifique des infirmiers, binômes et observation sur le terrain.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 – apprentissages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L’intégration est un processus continu, pas un événement unique.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central du manager : communication, écoute, cohérence discours / pratiques.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Lien direct avec engagement, bien‑être et performance à long terme.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de la clarification des rôles et de la qualité de la relation de travail.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Requalification &amp; évolution professionnelle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des processus par lesquels les collaborateurs adaptent, développent ou transforment leurs compétences dans un contexte de changement.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882141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Réponse aux transformations technologiques et organisationnelles (automatisation, numérisation).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Maintien de l’employabilité et de la motivation des équipes.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Articulation entre performance organisationnelle et reconnaissance individuelle.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Requalification – cadres théoriques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348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Adler &amp; Borys : l’automatisation peut conduire à une requalification qualitative (plus d’abstraction et de responsabilité).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Ambivalence du changement : opportunité d’apprentissage mais aussi source de stress si mal accompagnée.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750823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Modèle ADKAR (Prosci) :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914400" y="3067050"/>
            <a:ext cx="76200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Awareness, Desire, Knowledge, Ability, Reinforcement – cinq dimensions pour réussir la transition.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Requalification – CMH &amp; exemples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Automatisation du nettoyage et de la stérilisation avec nouvelles machines (UV).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Inquiétudes fortes : rumeurs, menace de grève, risques de départ de cadres.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Choix managérial : requalifier plutôt que supprimer des postes, former à la supervision des machines.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Création d’un comité de concertation (direction, cadres, syndicats) pour rétablir la confiance.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3288032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Exemples externes : Siemens et Volvo – requalification concertée vers des métiers plus qualifiés (industrie 4.0, mobilité électrique).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Requalification – apprentissages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requalification doit être pensée comme une opportunité, pas comme une contrainte imposée.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Importance du dialogue social, de la transparence et de la reconnaissance des inquiétudes.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Rôle du manager comme médiateur entre objectifs stratégiques et attentes individuelles.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Suivi par indicateurs : infections, coûts, délais, qualité du travail et climat social.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situations de crise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des dispositifs et pratiques pour faire face à un événement grave, imprévu et perturbateur.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642109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Forte incertitude, pression temporelle, enjeux humains élevés.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Objectifs : protéger les parties prenantes, limiter les dommages, restaurer un fonctionnement stable.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Dimension profondément humaine : coopération, décision sous stress, maintien du sens collectif.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des crises – cadres théoriques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2308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Coombs : théorie des attributions – perception de la responsabilité influence les attentes de communication.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Perrow : accidents normaux – inévitabilité des incidents dans les systèmes complexes.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Weick &amp; Sutcliffe : organisations à haute fiabilité – vigilance, détection des signaux faibles.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Fink : cinq phases de la crise – importance de l’anticipation et de l’apprentissage post‑crise.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 de crise : production de sens, régulation des émotions, préservation de la confiance.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Crises – CMH &amp; organisation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914400" y="1249682"/>
            <a:ext cx="7620000" cy="15773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Cellule de crise : direction, équipes médical/infirmiers, IT, communication, syndicats.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de crises : techniques (panne IT), sanitaires (épidémie), sociales (grève).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Protocoles, chaîne décisionnelle, communication interne rapide, soutien psychologique.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Simulations et audits post-crise pour renforcer la résilience organisationnelle.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09600" y="2979418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 Tylenol : communication transparente, retrait de produits, innovation (emballage) comme réponse exemplaire.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609600"/>
            <a:ext cx="80832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Crises – terrain &amp; apprentissages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249682"/>
            <a:ext cx="8083296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Clinique Al Madina (Casablanca) :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914400" y="1565914"/>
            <a:ext cx="7620000" cy="11544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Protocoles pour crises sanitaires, organisationnelles et humaines.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Chaîne de décision claire, communication interne rapide, soutien psychologique.</a:t>
            </a:r>
            <a:endParaRPr lang="en-US" sz="1350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rétrospective systématique après chaque crise pour améliorer les dispositifs.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09600" y="2872746"/>
            <a:ext cx="79248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buNone/>
            </a:pPr>
            <a:r>
              <a:rPr lang="en-US" sz="135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Apprentissage clé : la gestion de crise révèle la solidité des pratiques de gestion des personnes et du climat de confiance.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93731" y="1022989"/>
            <a:ext cx="69564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apports pour notre pratique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9600" y="1663071"/>
            <a:ext cx="79248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performance durable du Centre Médical Horizon repose sur l’articulation entre décisions technologiques et gestion humaine des ressources.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952500" y="2348871"/>
            <a:ext cx="7239000" cy="1771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Intégration, requalification et gestion des crises sont trois leviers complémentaires de GRH.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 management efficace exige cohérence, reconnaissance et prise en compte des dynamiques humaines.</a:t>
            </a:r>
            <a:endParaRPr lang="en-US" sz="1350" dirty="0"/>
          </a:p>
          <a:p>
            <a:pPr marL="342900" indent="-342900" algn="l">
              <a:lnSpc>
                <a:spcPts val="2430"/>
              </a:lnSpc>
              <a:buSzPct val="100000"/>
              <a:buChar char="•"/>
            </a:pPr>
            <a:r>
              <a:rPr lang="en-US" sz="13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 concepts vus au cours fournissent un cadre pour agir de façon réfléchie dans des organisations complexes.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4916" y="2118364"/>
            <a:ext cx="43141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240"/>
              </a:lnSpc>
              <a:buNone/>
            </a:pPr>
            <a:r>
              <a:rPr lang="en-US" sz="27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Merci pour votre attention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3562075" y="2758446"/>
            <a:ext cx="201973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1516</TotalTime>
  <Words>1192</Words>
  <Application>Microsoft Office PowerPoint</Application>
  <PresentationFormat>On-screen Show (16:9)</PresentationFormat>
  <Paragraphs>124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Imane Harakat</cp:lastModifiedBy>
  <cp:revision>2</cp:revision>
  <dcterms:created xsi:type="dcterms:W3CDTF">2026-01-14T14:51:43Z</dcterms:created>
  <dcterms:modified xsi:type="dcterms:W3CDTF">2026-01-15T19:36:15Z</dcterms:modified>
</cp:coreProperties>
</file>